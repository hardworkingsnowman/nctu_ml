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Nunito ExtraLight" panose="02020500000000000000" charset="0"/>
      <p:regular r:id="rId18"/>
      <p:bold r:id="rId19"/>
      <p:italic r:id="rId20"/>
      <p:boldItalic r:id="rId21"/>
    </p:embeddedFont>
    <p:embeddedFont>
      <p:font typeface="Maven Pro" panose="02020500000000000000" charset="0"/>
      <p:regular r:id="rId22"/>
      <p:bold r:id="rId23"/>
    </p:embeddedFont>
    <p:embeddedFont>
      <p:font typeface="Nunito" panose="02020500000000000000" charset="0"/>
      <p:regular r:id="rId24"/>
      <p:bold r:id="rId25"/>
      <p:italic r:id="rId26"/>
      <p:boldItalic r:id="rId27"/>
    </p:embeddedFont>
    <p:embeddedFont>
      <p:font typeface="Nunito Light" panose="02020500000000000000"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5b05c2db73_6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5b05c2db73_6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zh-TW" sz="1200"/>
              <a:t>PTT論壇中有不同主題的版供使用者發表文章，當使用者發表的文章內容不符合該版主題時，文章會被版主下架。而目前"下架"的動作仍然是以工人智慧的方式進行 (版主肉眼校閱)，非常耗費人力資源。基於上述理由，我們希望透過機器學習的方式來幫助檢查新進的文章是否符合該版的主題，方法是蒐集各版文章的字詞來進行模型的訓練，在接下來的部分則會有詳細的解說。</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5b05c2db73_4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5b05c2db73_4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5b05c2db73_4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5b05c2db73_4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5b05c2db73_4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5b05c2db73_4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5b05c2db73_4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5b05c2db73_4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5b05c2db73_4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5b05c2db73_4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5b05c2db73_4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5b05c2db73_4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zh-TW" sz="1200"/>
              <a:t>1.資料共12萬多筆，超過github個別檔案容量限制，因此分裝成25個csv檔，使用pandas read_csv+tips from stackoverflow讀入分裝的資料。</a:t>
            </a:r>
            <a:endParaRPr sz="1200"/>
          </a:p>
          <a:p>
            <a:pPr marL="0" lvl="0" indent="0" algn="l" rtl="0">
              <a:lnSpc>
                <a:spcPct val="115000"/>
              </a:lnSpc>
              <a:spcBef>
                <a:spcPts val="0"/>
              </a:spcBef>
              <a:spcAft>
                <a:spcPts val="0"/>
              </a:spcAft>
              <a:buNone/>
            </a:pPr>
            <a:r>
              <a:rPr lang="zh-TW" sz="1200"/>
              <a:t>2.使用CountVectorizer統計字詞頻率，LabelEncoder將target編碼，若是 nn-model，則再使用one_hot_encoding將target編碼。</a:t>
            </a:r>
            <a:endParaRPr sz="1200"/>
          </a:p>
          <a:p>
            <a:pPr marL="0" lvl="0" indent="0" algn="l" rtl="0">
              <a:lnSpc>
                <a:spcPct val="115000"/>
              </a:lnSpc>
              <a:spcBef>
                <a:spcPts val="0"/>
              </a:spcBef>
              <a:spcAft>
                <a:spcPts val="0"/>
              </a:spcAft>
              <a:buNone/>
            </a:pPr>
            <a:r>
              <a:rPr lang="zh-TW" sz="1200"/>
              <a:t>3.以test_size=0.3的比例，分成training data 86k 筆，testing data 37k 筆。</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5b05c2db73_4_3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5b05c2db73_4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zh-TW" sz="1200"/>
              <a:t>1. matplotlib 畫出每個分類的圓餅圖</a:t>
            </a:r>
            <a:endParaRPr sz="1200"/>
          </a:p>
          <a:p>
            <a:pPr marL="0" lvl="0" indent="0" algn="l" rtl="0">
              <a:lnSpc>
                <a:spcPct val="115000"/>
              </a:lnSpc>
              <a:spcBef>
                <a:spcPts val="0"/>
              </a:spcBef>
              <a:spcAft>
                <a:spcPts val="0"/>
              </a:spcAft>
              <a:buNone/>
            </a:pPr>
            <a:r>
              <a:rPr lang="zh-TW" sz="1200"/>
              <a:t>2.128 category 每種分類的文章數約等量</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5b05c2db73_4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5b05c2db73_4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5b05c2db73_4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5b05c2db73_4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5b05c2db73_4_3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5b05c2db73_4_3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sz="1600">
                <a:latin typeface="Nunito"/>
                <a:ea typeface="Nunito"/>
                <a:cs typeface="Nunito"/>
                <a:sym typeface="Nunito"/>
              </a:rPr>
              <a:t>1. 就算開 threading 也要跑十個小時的程式，其中又可能遇到各種例外(包含程式、電腦硬體本身)，因此後來不僅在程式中做一些例外處理，也切成多個 csv，如果有斷掉的情況就可以知道從哪裡重新開始，這也順便解決 github 最大檔案限制的問題</a:t>
            </a:r>
            <a:endParaRPr sz="1600">
              <a:latin typeface="Nunito"/>
              <a:ea typeface="Nunito"/>
              <a:cs typeface="Nunito"/>
              <a:sym typeface="Nunito"/>
            </a:endParaRPr>
          </a:p>
          <a:p>
            <a:pPr marL="0" lvl="0" indent="0" algn="l" rtl="0">
              <a:spcBef>
                <a:spcPts val="0"/>
              </a:spcBef>
              <a:spcAft>
                <a:spcPts val="0"/>
              </a:spcAft>
              <a:buNone/>
            </a:pPr>
            <a:endParaRPr sz="1600">
              <a:latin typeface="Nunito"/>
              <a:ea typeface="Nunito"/>
              <a:cs typeface="Nunito"/>
              <a:sym typeface="Nunito"/>
            </a:endParaRPr>
          </a:p>
          <a:p>
            <a:pPr marL="0" lvl="0" indent="0" algn="l" rtl="0">
              <a:spcBef>
                <a:spcPts val="0"/>
              </a:spcBef>
              <a:spcAft>
                <a:spcPts val="0"/>
              </a:spcAft>
              <a:buNone/>
            </a:pPr>
            <a:r>
              <a:rPr lang="zh-TW" sz="1600">
                <a:latin typeface="Nunito"/>
                <a:ea typeface="Nunito"/>
                <a:cs typeface="Nunito"/>
                <a:sym typeface="Nunito"/>
              </a:rPr>
              <a:t>2. 透過 jieba 所得到字詞分類會讓整個 array 變得太大，有的組員在跑程式時會遇到 memory error，所以後來才改成一個字一個字分開</a:t>
            </a:r>
            <a:endParaRPr sz="1600">
              <a:latin typeface="Nunito"/>
              <a:ea typeface="Nunito"/>
              <a:cs typeface="Nunito"/>
              <a:sym typeface="Nunito"/>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5b05c2db73_4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5b05c2db73_4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5b05c2db73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5b05c2db7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5b05c2db73_6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5b05c2db73_6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1600"/>
              </a:spcBef>
              <a:spcAft>
                <a:spcPts val="0"/>
              </a:spcAft>
              <a:buClr>
                <a:schemeClr val="lt1"/>
              </a:buClr>
              <a:buSzPts val="1100"/>
              <a:buChar char="○"/>
              <a:defRPr>
                <a:solidFill>
                  <a:schemeClr val="lt1"/>
                </a:solidFill>
              </a:defRPr>
            </a:lvl2pPr>
            <a:lvl3pPr marL="1371600" lvl="2" indent="-298450" algn="ctr">
              <a:spcBef>
                <a:spcPts val="1600"/>
              </a:spcBef>
              <a:spcAft>
                <a:spcPts val="0"/>
              </a:spcAft>
              <a:buClr>
                <a:schemeClr val="lt1"/>
              </a:buClr>
              <a:buSzPts val="1100"/>
              <a:buChar char="■"/>
              <a:defRPr>
                <a:solidFill>
                  <a:schemeClr val="lt1"/>
                </a:solidFill>
              </a:defRPr>
            </a:lvl3pPr>
            <a:lvl4pPr marL="1828800" lvl="3" indent="-298450" algn="ctr">
              <a:spcBef>
                <a:spcPts val="1600"/>
              </a:spcBef>
              <a:spcAft>
                <a:spcPts val="0"/>
              </a:spcAft>
              <a:buClr>
                <a:schemeClr val="lt1"/>
              </a:buClr>
              <a:buSzPts val="1100"/>
              <a:buChar char="●"/>
              <a:defRPr>
                <a:solidFill>
                  <a:schemeClr val="lt1"/>
                </a:solidFill>
              </a:defRPr>
            </a:lvl4pPr>
            <a:lvl5pPr marL="2286000" lvl="4" indent="-298450" algn="ctr">
              <a:spcBef>
                <a:spcPts val="1600"/>
              </a:spcBef>
              <a:spcAft>
                <a:spcPts val="0"/>
              </a:spcAft>
              <a:buClr>
                <a:schemeClr val="lt1"/>
              </a:buClr>
              <a:buSzPts val="1100"/>
              <a:buChar char="○"/>
              <a:defRPr>
                <a:solidFill>
                  <a:schemeClr val="lt1"/>
                </a:solidFill>
              </a:defRPr>
            </a:lvl5pPr>
            <a:lvl6pPr marL="2743200" lvl="5" indent="-298450" algn="ctr">
              <a:spcBef>
                <a:spcPts val="1600"/>
              </a:spcBef>
              <a:spcAft>
                <a:spcPts val="0"/>
              </a:spcAft>
              <a:buClr>
                <a:schemeClr val="lt1"/>
              </a:buClr>
              <a:buSzPts val="1100"/>
              <a:buChar char="■"/>
              <a:defRPr>
                <a:solidFill>
                  <a:schemeClr val="lt1"/>
                </a:solidFill>
              </a:defRPr>
            </a:lvl6pPr>
            <a:lvl7pPr marL="3200400" lvl="6" indent="-298450" algn="ctr">
              <a:spcBef>
                <a:spcPts val="1600"/>
              </a:spcBef>
              <a:spcAft>
                <a:spcPts val="0"/>
              </a:spcAft>
              <a:buClr>
                <a:schemeClr val="lt1"/>
              </a:buClr>
              <a:buSzPts val="1100"/>
              <a:buChar char="●"/>
              <a:defRPr>
                <a:solidFill>
                  <a:schemeClr val="lt1"/>
                </a:solidFill>
              </a:defRPr>
            </a:lvl7pPr>
            <a:lvl8pPr marL="3657600" lvl="7" indent="-298450" algn="ctr">
              <a:spcBef>
                <a:spcPts val="1600"/>
              </a:spcBef>
              <a:spcAft>
                <a:spcPts val="0"/>
              </a:spcAft>
              <a:buClr>
                <a:schemeClr val="lt1"/>
              </a:buClr>
              <a:buSzPts val="1100"/>
              <a:buChar char="○"/>
              <a:defRPr>
                <a:solidFill>
                  <a:schemeClr val="lt1"/>
                </a:solidFill>
              </a:defRPr>
            </a:lvl8pPr>
            <a:lvl9pPr marL="4114800" lvl="8" indent="-298450" algn="ctr">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826702"/>
            <a:ext cx="4255500" cy="224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a:t>2018 </a:t>
            </a:r>
            <a:endParaRPr/>
          </a:p>
          <a:p>
            <a:pPr marL="0" lvl="0" indent="0" algn="l" rtl="0">
              <a:spcBef>
                <a:spcPts val="0"/>
              </a:spcBef>
              <a:spcAft>
                <a:spcPts val="0"/>
              </a:spcAft>
              <a:buNone/>
            </a:pPr>
            <a:r>
              <a:rPr lang="zh-TW"/>
              <a:t>下學期機器學習</a:t>
            </a:r>
            <a:endParaRPr/>
          </a:p>
          <a:p>
            <a:pPr marL="0" lvl="0" indent="0" algn="l" rtl="0">
              <a:spcBef>
                <a:spcPts val="0"/>
              </a:spcBef>
              <a:spcAft>
                <a:spcPts val="0"/>
              </a:spcAft>
              <a:buNone/>
            </a:pPr>
            <a:r>
              <a:rPr lang="zh-TW"/>
              <a:t>Final Project</a:t>
            </a:r>
            <a:endParaRPr/>
          </a:p>
        </p:txBody>
      </p:sp>
      <p:sp>
        <p:nvSpPr>
          <p:cNvPr id="278" name="Google Shape;278;p13"/>
          <p:cNvSpPr txBox="1">
            <a:spLocks noGrp="1"/>
          </p:cNvSpPr>
          <p:nvPr>
            <p:ph type="subTitle" idx="1"/>
          </p:nvPr>
        </p:nvSpPr>
        <p:spPr>
          <a:xfrm>
            <a:off x="824000" y="3152700"/>
            <a:ext cx="7032300" cy="115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組員 : 0616018 林哲宇  0616084 林柏均</a:t>
            </a:r>
            <a:endParaRPr/>
          </a:p>
          <a:p>
            <a:pPr marL="0" lvl="0" indent="457200" algn="l" rtl="0">
              <a:spcBef>
                <a:spcPts val="0"/>
              </a:spcBef>
              <a:spcAft>
                <a:spcPts val="0"/>
              </a:spcAft>
              <a:buNone/>
            </a:pPr>
            <a:r>
              <a:rPr lang="zh-TW"/>
              <a:t>  0516017 李柏毅  0313340 邱韡</a:t>
            </a:r>
            <a:endParaRPr/>
          </a:p>
          <a:p>
            <a:pPr marL="457200" lvl="0" indent="0" algn="l" rtl="0">
              <a:spcBef>
                <a:spcPts val="0"/>
              </a:spcBef>
              <a:spcAft>
                <a:spcPts val="0"/>
              </a:spcAft>
              <a:buNone/>
            </a:pPr>
            <a:r>
              <a:rPr lang="zh-TW"/>
              <a:t>  0413233 李彥儒</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0" y="-12"/>
            <a:ext cx="4255500" cy="187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一、題目與動機</a:t>
            </a:r>
            <a:endParaRPr b="0">
              <a:latin typeface="Nunito Light"/>
              <a:ea typeface="Nunito Light"/>
              <a:cs typeface="Nunito Light"/>
              <a:sym typeface="Nunito Light"/>
            </a:endParaRPr>
          </a:p>
        </p:txBody>
      </p:sp>
      <p:sp>
        <p:nvSpPr>
          <p:cNvPr id="284" name="Google Shape;284;p14"/>
          <p:cNvSpPr txBox="1">
            <a:spLocks noGrp="1"/>
          </p:cNvSpPr>
          <p:nvPr>
            <p:ph type="subTitle" idx="1"/>
          </p:nvPr>
        </p:nvSpPr>
        <p:spPr>
          <a:xfrm>
            <a:off x="824000" y="1728825"/>
            <a:ext cx="4255500" cy="323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sz="2400"/>
              <a:t>題目:文章檢測器</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zh-TW" sz="2400"/>
              <a:t>動機:</a:t>
            </a:r>
            <a:endParaRPr sz="2400"/>
          </a:p>
          <a:p>
            <a:pPr marL="0" lvl="0" indent="0" algn="l" rtl="0">
              <a:spcBef>
                <a:spcPts val="0"/>
              </a:spcBef>
              <a:spcAft>
                <a:spcPts val="0"/>
              </a:spcAft>
              <a:buNone/>
            </a:pPr>
            <a:r>
              <a:rPr lang="zh-TW" sz="2400"/>
              <a:t>1. ptt 版主目前的工作</a:t>
            </a:r>
            <a:endParaRPr sz="2400"/>
          </a:p>
          <a:p>
            <a:pPr marL="0" lvl="0" indent="0" algn="l" rtl="0">
              <a:spcBef>
                <a:spcPts val="0"/>
              </a:spcBef>
              <a:spcAft>
                <a:spcPts val="0"/>
              </a:spcAft>
              <a:buNone/>
            </a:pPr>
            <a:endParaRPr sz="2400"/>
          </a:p>
          <a:p>
            <a:pPr marL="0" lvl="0" indent="0" algn="l" rtl="0">
              <a:spcBef>
                <a:spcPts val="0"/>
              </a:spcBef>
              <a:spcAft>
                <a:spcPts val="0"/>
              </a:spcAft>
              <a:buNone/>
            </a:pPr>
            <a:r>
              <a:rPr lang="zh-TW" sz="2400"/>
              <a:t>2. 本身的 ptt 使用經驗</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0" y="0"/>
            <a:ext cx="3600600" cy="149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二、取得資料</a:t>
            </a:r>
            <a:endParaRPr b="0">
              <a:latin typeface="Nunito Light"/>
              <a:ea typeface="Nunito Light"/>
              <a:cs typeface="Nunito Light"/>
              <a:sym typeface="Nunito Light"/>
            </a:endParaRPr>
          </a:p>
        </p:txBody>
      </p:sp>
      <p:sp>
        <p:nvSpPr>
          <p:cNvPr id="290" name="Google Shape;290;p15"/>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291" name="Google Shape;291;p15"/>
          <p:cNvPicPr preferRelativeResize="0"/>
          <p:nvPr/>
        </p:nvPicPr>
        <p:blipFill>
          <a:blip r:embed="rId3">
            <a:alphaModFix/>
          </a:blip>
          <a:stretch>
            <a:fillRect/>
          </a:stretch>
        </p:blipFill>
        <p:spPr>
          <a:xfrm>
            <a:off x="2125450" y="1491850"/>
            <a:ext cx="5371851" cy="3319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6"/>
          <p:cNvSpPr txBox="1">
            <a:spLocks noGrp="1"/>
          </p:cNvSpPr>
          <p:nvPr>
            <p:ph type="ctrTitle"/>
          </p:nvPr>
        </p:nvSpPr>
        <p:spPr>
          <a:xfrm>
            <a:off x="0" y="69025"/>
            <a:ext cx="2333400" cy="1187100"/>
          </a:xfrm>
          <a:prstGeom prst="rect">
            <a:avLst/>
          </a:prstGeom>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zh-TW" b="0">
                <a:solidFill>
                  <a:srgbClr val="FFFFFF"/>
                </a:solidFill>
                <a:latin typeface="Nunito Light"/>
                <a:ea typeface="Nunito Light"/>
                <a:cs typeface="Nunito Light"/>
                <a:sym typeface="Nunito Light"/>
              </a:rPr>
              <a:t>ppt首頁</a:t>
            </a:r>
            <a:endParaRPr b="0">
              <a:solidFill>
                <a:srgbClr val="FFFFFF"/>
              </a:solidFill>
              <a:latin typeface="Nunito Light"/>
              <a:ea typeface="Nunito Light"/>
              <a:cs typeface="Nunito Light"/>
              <a:sym typeface="Nunito Light"/>
            </a:endParaRPr>
          </a:p>
        </p:txBody>
      </p:sp>
      <p:sp>
        <p:nvSpPr>
          <p:cNvPr id="297" name="Google Shape;297;p16"/>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298" name="Google Shape;298;p16"/>
          <p:cNvPicPr preferRelativeResize="0"/>
          <p:nvPr/>
        </p:nvPicPr>
        <p:blipFill>
          <a:blip r:embed="rId3">
            <a:alphaModFix/>
          </a:blip>
          <a:stretch>
            <a:fillRect/>
          </a:stretch>
        </p:blipFill>
        <p:spPr>
          <a:xfrm>
            <a:off x="824000" y="1075375"/>
            <a:ext cx="6787074" cy="373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7"/>
          <p:cNvSpPr txBox="1">
            <a:spLocks noGrp="1"/>
          </p:cNvSpPr>
          <p:nvPr>
            <p:ph type="ctrTitle"/>
          </p:nvPr>
        </p:nvSpPr>
        <p:spPr>
          <a:xfrm>
            <a:off x="0" y="0"/>
            <a:ext cx="3550800" cy="128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ptt 分類 index</a:t>
            </a:r>
            <a:endParaRPr b="0">
              <a:latin typeface="Nunito Light"/>
              <a:ea typeface="Nunito Light"/>
              <a:cs typeface="Nunito Light"/>
              <a:sym typeface="Nunito Light"/>
            </a:endParaRPr>
          </a:p>
        </p:txBody>
      </p:sp>
      <p:sp>
        <p:nvSpPr>
          <p:cNvPr id="304" name="Google Shape;304;p17"/>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305" name="Google Shape;305;p17"/>
          <p:cNvPicPr preferRelativeResize="0"/>
          <p:nvPr/>
        </p:nvPicPr>
        <p:blipFill>
          <a:blip r:embed="rId3">
            <a:alphaModFix/>
          </a:blip>
          <a:stretch>
            <a:fillRect/>
          </a:stretch>
        </p:blipFill>
        <p:spPr>
          <a:xfrm>
            <a:off x="824000" y="1095650"/>
            <a:ext cx="6815174" cy="3694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8"/>
          <p:cNvSpPr txBox="1">
            <a:spLocks noGrp="1"/>
          </p:cNvSpPr>
          <p:nvPr>
            <p:ph type="ctrTitle"/>
          </p:nvPr>
        </p:nvSpPr>
        <p:spPr>
          <a:xfrm>
            <a:off x="71025" y="81150"/>
            <a:ext cx="2445000" cy="118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文章內頁</a:t>
            </a:r>
            <a:endParaRPr b="0">
              <a:latin typeface="Nunito Light"/>
              <a:ea typeface="Nunito Light"/>
              <a:cs typeface="Nunito Light"/>
              <a:sym typeface="Nunito Light"/>
            </a:endParaRPr>
          </a:p>
        </p:txBody>
      </p:sp>
      <p:sp>
        <p:nvSpPr>
          <p:cNvPr id="311" name="Google Shape;311;p18"/>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312" name="Google Shape;312;p18"/>
          <p:cNvPicPr preferRelativeResize="0"/>
          <p:nvPr/>
        </p:nvPicPr>
        <p:blipFill>
          <a:blip r:embed="rId3">
            <a:alphaModFix/>
          </a:blip>
          <a:stretch>
            <a:fillRect/>
          </a:stretch>
        </p:blipFill>
        <p:spPr>
          <a:xfrm>
            <a:off x="750725" y="1146375"/>
            <a:ext cx="6939176" cy="3759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9"/>
          <p:cNvSpPr txBox="1">
            <a:spLocks noGrp="1"/>
          </p:cNvSpPr>
          <p:nvPr>
            <p:ph type="ctrTitle"/>
          </p:nvPr>
        </p:nvSpPr>
        <p:spPr>
          <a:xfrm>
            <a:off x="0" y="-3"/>
            <a:ext cx="2881200" cy="137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輸出格式</a:t>
            </a:r>
            <a:endParaRPr b="0">
              <a:latin typeface="Nunito Light"/>
              <a:ea typeface="Nunito Light"/>
              <a:cs typeface="Nunito Light"/>
              <a:sym typeface="Nunito Light"/>
            </a:endParaRPr>
          </a:p>
        </p:txBody>
      </p:sp>
      <p:pic>
        <p:nvPicPr>
          <p:cNvPr id="318" name="Google Shape;318;p19"/>
          <p:cNvPicPr preferRelativeResize="0"/>
          <p:nvPr/>
        </p:nvPicPr>
        <p:blipFill>
          <a:blip r:embed="rId3">
            <a:alphaModFix/>
          </a:blip>
          <a:stretch>
            <a:fillRect/>
          </a:stretch>
        </p:blipFill>
        <p:spPr>
          <a:xfrm>
            <a:off x="486938" y="1287027"/>
            <a:ext cx="6070125" cy="1462675"/>
          </a:xfrm>
          <a:prstGeom prst="rect">
            <a:avLst/>
          </a:prstGeom>
          <a:noFill/>
          <a:ln>
            <a:noFill/>
          </a:ln>
        </p:spPr>
      </p:pic>
      <p:pic>
        <p:nvPicPr>
          <p:cNvPr id="319" name="Google Shape;319;p19"/>
          <p:cNvPicPr preferRelativeResize="0"/>
          <p:nvPr/>
        </p:nvPicPr>
        <p:blipFill>
          <a:blip r:embed="rId4">
            <a:alphaModFix/>
          </a:blip>
          <a:stretch>
            <a:fillRect/>
          </a:stretch>
        </p:blipFill>
        <p:spPr>
          <a:xfrm>
            <a:off x="501575" y="2979325"/>
            <a:ext cx="6040838" cy="1462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0"/>
          <p:cNvSpPr txBox="1">
            <a:spLocks noGrp="1"/>
          </p:cNvSpPr>
          <p:nvPr>
            <p:ph type="ctrTitle"/>
          </p:nvPr>
        </p:nvSpPr>
        <p:spPr>
          <a:xfrm>
            <a:off x="365225" y="0"/>
            <a:ext cx="3398700" cy="116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三、資料前處理</a:t>
            </a:r>
            <a:endParaRPr b="0">
              <a:latin typeface="Nunito Light"/>
              <a:ea typeface="Nunito Light"/>
              <a:cs typeface="Nunito Light"/>
              <a:sym typeface="Nunito Light"/>
            </a:endParaRPr>
          </a:p>
        </p:txBody>
      </p:sp>
      <p:pic>
        <p:nvPicPr>
          <p:cNvPr id="325" name="Google Shape;325;p20"/>
          <p:cNvPicPr preferRelativeResize="0"/>
          <p:nvPr/>
        </p:nvPicPr>
        <p:blipFill>
          <a:blip r:embed="rId3">
            <a:alphaModFix/>
          </a:blip>
          <a:stretch>
            <a:fillRect/>
          </a:stretch>
        </p:blipFill>
        <p:spPr>
          <a:xfrm>
            <a:off x="1602900" y="1162350"/>
            <a:ext cx="5671051" cy="3741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1"/>
          <p:cNvSpPr txBox="1">
            <a:spLocks noGrp="1"/>
          </p:cNvSpPr>
          <p:nvPr>
            <p:ph type="ctrTitle"/>
          </p:nvPr>
        </p:nvSpPr>
        <p:spPr>
          <a:xfrm>
            <a:off x="0" y="0"/>
            <a:ext cx="3611700" cy="100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ExtraLight"/>
                <a:ea typeface="Nunito ExtraLight"/>
                <a:cs typeface="Nunito ExtraLight"/>
                <a:sym typeface="Nunito ExtraLight"/>
              </a:rPr>
              <a:t>資料視覺化</a:t>
            </a:r>
            <a:endParaRPr b="0">
              <a:latin typeface="Nunito ExtraLight"/>
              <a:ea typeface="Nunito ExtraLight"/>
              <a:cs typeface="Nunito ExtraLight"/>
              <a:sym typeface="Nunito ExtraLight"/>
            </a:endParaRPr>
          </a:p>
        </p:txBody>
      </p:sp>
      <p:pic>
        <p:nvPicPr>
          <p:cNvPr id="331" name="Google Shape;331;p21"/>
          <p:cNvPicPr preferRelativeResize="0"/>
          <p:nvPr/>
        </p:nvPicPr>
        <p:blipFill>
          <a:blip r:embed="rId3">
            <a:alphaModFix/>
          </a:blip>
          <a:stretch>
            <a:fillRect/>
          </a:stretch>
        </p:blipFill>
        <p:spPr>
          <a:xfrm>
            <a:off x="1598225" y="1007700"/>
            <a:ext cx="4648995" cy="3790949"/>
          </a:xfrm>
          <a:prstGeom prst="rect">
            <a:avLst/>
          </a:prstGeom>
          <a:noFill/>
          <a:ln>
            <a:noFill/>
          </a:ln>
        </p:spPr>
      </p:pic>
      <p:sp>
        <p:nvSpPr>
          <p:cNvPr id="332" name="Google Shape;332;p21"/>
          <p:cNvSpPr txBox="1"/>
          <p:nvPr/>
        </p:nvSpPr>
        <p:spPr>
          <a:xfrm>
            <a:off x="6472450" y="3517650"/>
            <a:ext cx="2404500" cy="84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zh-TW" sz="2000" b="1">
                <a:solidFill>
                  <a:srgbClr val="FFFFFF"/>
                </a:solidFill>
                <a:latin typeface="Nunito"/>
                <a:ea typeface="Nunito"/>
                <a:cs typeface="Nunito"/>
                <a:sym typeface="Nunito"/>
              </a:rPr>
              <a:t>128 categories</a:t>
            </a:r>
            <a:endParaRPr sz="2000" b="1">
              <a:solidFill>
                <a:srgbClr val="FFFFFF"/>
              </a:solidFill>
              <a:latin typeface="Nunito"/>
              <a:ea typeface="Nunito"/>
              <a:cs typeface="Nunito"/>
              <a:sym typeface="Nunito"/>
            </a:endParaRPr>
          </a:p>
          <a:p>
            <a:pPr marL="0" lvl="0" indent="0" algn="l" rtl="0">
              <a:lnSpc>
                <a:spcPct val="115000"/>
              </a:lnSpc>
              <a:spcBef>
                <a:spcPts val="0"/>
              </a:spcBef>
              <a:spcAft>
                <a:spcPts val="0"/>
              </a:spcAft>
              <a:buNone/>
            </a:pPr>
            <a:r>
              <a:rPr lang="zh-TW" sz="2000" b="1">
                <a:solidFill>
                  <a:srgbClr val="FFFFFF"/>
                </a:solidFill>
                <a:latin typeface="Nunito"/>
                <a:ea typeface="Nunito"/>
                <a:cs typeface="Nunito"/>
                <a:sym typeface="Nunito"/>
              </a:rPr>
              <a:t>same ratio articles</a:t>
            </a:r>
            <a:endParaRPr sz="2000" b="1">
              <a:solidFill>
                <a:srgbClr val="FFFFFF"/>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2"/>
          <p:cNvSpPr txBox="1">
            <a:spLocks noGrp="1"/>
          </p:cNvSpPr>
          <p:nvPr>
            <p:ph type="ctrTitle"/>
          </p:nvPr>
        </p:nvSpPr>
        <p:spPr>
          <a:xfrm>
            <a:off x="0" y="202900"/>
            <a:ext cx="3652200" cy="1461000"/>
          </a:xfrm>
          <a:prstGeom prst="rect">
            <a:avLst/>
          </a:prstGeom>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a:p>
          <a:p>
            <a:pPr marL="0" lvl="0" indent="0" algn="ctr" rtl="0">
              <a:lnSpc>
                <a:spcPct val="115000"/>
              </a:lnSpc>
              <a:spcBef>
                <a:spcPts val="0"/>
              </a:spcBef>
              <a:spcAft>
                <a:spcPts val="0"/>
              </a:spcAft>
              <a:buNone/>
            </a:pPr>
            <a:endParaRPr/>
          </a:p>
          <a:p>
            <a:pPr marL="0" lvl="0" indent="0" algn="ctr" rtl="0">
              <a:lnSpc>
                <a:spcPct val="100000"/>
              </a:lnSpc>
              <a:spcBef>
                <a:spcPts val="0"/>
              </a:spcBef>
              <a:spcAft>
                <a:spcPts val="0"/>
              </a:spcAft>
              <a:buNone/>
            </a:pPr>
            <a:r>
              <a:rPr lang="zh-TW" b="0">
                <a:latin typeface="Nunito Light"/>
                <a:ea typeface="Nunito Light"/>
                <a:cs typeface="Nunito Light"/>
                <a:sym typeface="Nunito Light"/>
              </a:rPr>
              <a:t>     四、訓練模型</a:t>
            </a:r>
            <a:r>
              <a:rPr lang="zh-TW" sz="1800" b="0">
                <a:solidFill>
                  <a:srgbClr val="000000"/>
                </a:solidFill>
                <a:latin typeface="Nunito Light"/>
                <a:ea typeface="Nunito Light"/>
                <a:cs typeface="Nunito Light"/>
                <a:sym typeface="Nunito Light"/>
              </a:rPr>
              <a:t>					</a:t>
            </a:r>
            <a:endParaRPr sz="900" b="0">
              <a:solidFill>
                <a:srgbClr val="000000"/>
              </a:solidFill>
              <a:latin typeface="Nunito Light"/>
              <a:ea typeface="Nunito Light"/>
              <a:cs typeface="Nunito Light"/>
              <a:sym typeface="Nunito Light"/>
            </a:endParaRPr>
          </a:p>
          <a:p>
            <a:pPr marL="0" lvl="0" indent="0" algn="ctr" rtl="0">
              <a:lnSpc>
                <a:spcPct val="115000"/>
              </a:lnSpc>
              <a:spcBef>
                <a:spcPts val="0"/>
              </a:spcBef>
              <a:spcAft>
                <a:spcPts val="0"/>
              </a:spcAft>
              <a:buNone/>
            </a:pPr>
            <a:endParaRPr sz="1200" b="0">
              <a:solidFill>
                <a:srgbClr val="000000"/>
              </a:solidFill>
              <a:latin typeface="Arial"/>
              <a:ea typeface="Arial"/>
              <a:cs typeface="Arial"/>
              <a:sym typeface="Arial"/>
            </a:endParaRPr>
          </a:p>
          <a:p>
            <a:pPr marL="0" lvl="0" indent="0" algn="ctr" rtl="0">
              <a:lnSpc>
                <a:spcPct val="115000"/>
              </a:lnSpc>
              <a:spcBef>
                <a:spcPts val="0"/>
              </a:spcBef>
              <a:spcAft>
                <a:spcPts val="0"/>
              </a:spcAft>
              <a:buNone/>
            </a:pPr>
            <a:endParaRPr sz="1200" b="0">
              <a:solidFill>
                <a:srgbClr val="000000"/>
              </a:solidFill>
              <a:latin typeface="Arial"/>
              <a:ea typeface="Arial"/>
              <a:cs typeface="Arial"/>
              <a:sym typeface="Arial"/>
            </a:endParaRPr>
          </a:p>
          <a:p>
            <a:pPr marL="0" lvl="0" indent="0" algn="ctr" rtl="0">
              <a:spcBef>
                <a:spcPts val="0"/>
              </a:spcBef>
              <a:spcAft>
                <a:spcPts val="0"/>
              </a:spcAft>
              <a:buNone/>
            </a:pPr>
            <a:endParaRPr sz="1400" b="0">
              <a:solidFill>
                <a:srgbClr val="000000"/>
              </a:solidFill>
              <a:latin typeface="Arial"/>
              <a:ea typeface="Arial"/>
              <a:cs typeface="Arial"/>
              <a:sym typeface="Arial"/>
            </a:endParaRPr>
          </a:p>
          <a:p>
            <a:pPr marL="0" lvl="0" indent="0" algn="ctr" rtl="0">
              <a:spcBef>
                <a:spcPts val="0"/>
              </a:spcBef>
              <a:spcAft>
                <a:spcPts val="0"/>
              </a:spcAft>
              <a:buNone/>
            </a:pPr>
            <a:endParaRPr/>
          </a:p>
        </p:txBody>
      </p:sp>
      <p:sp>
        <p:nvSpPr>
          <p:cNvPr id="338" name="Google Shape;338;p22"/>
          <p:cNvSpPr txBox="1">
            <a:spLocks noGrp="1"/>
          </p:cNvSpPr>
          <p:nvPr>
            <p:ph type="subTitle" idx="1"/>
          </p:nvPr>
        </p:nvSpPr>
        <p:spPr>
          <a:xfrm>
            <a:off x="971550" y="1335900"/>
            <a:ext cx="4829700" cy="2152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TW" sz="2400" b="1">
                <a:latin typeface="Maven Pro"/>
                <a:ea typeface="Maven Pro"/>
                <a:cs typeface="Maven Pro"/>
                <a:sym typeface="Maven Pro"/>
              </a:rPr>
              <a:t>i.Bayes</a:t>
            </a:r>
            <a:endParaRPr sz="2400" b="1">
              <a:latin typeface="Maven Pro"/>
              <a:ea typeface="Maven Pro"/>
              <a:cs typeface="Maven Pro"/>
              <a:sym typeface="Maven Pro"/>
            </a:endParaRPr>
          </a:p>
          <a:p>
            <a:pPr marL="0" lvl="0" indent="0" algn="l" rtl="0">
              <a:lnSpc>
                <a:spcPct val="150000"/>
              </a:lnSpc>
              <a:spcBef>
                <a:spcPts val="0"/>
              </a:spcBef>
              <a:spcAft>
                <a:spcPts val="0"/>
              </a:spcAft>
              <a:buNone/>
            </a:pPr>
            <a:r>
              <a:rPr lang="zh-TW" sz="2400" b="1">
                <a:latin typeface="Maven Pro"/>
                <a:ea typeface="Maven Pro"/>
                <a:cs typeface="Maven Pro"/>
                <a:sym typeface="Maven Pro"/>
              </a:rPr>
              <a:t>ii.Desicion Tree</a:t>
            </a:r>
            <a:endParaRPr sz="2400" b="1">
              <a:latin typeface="Maven Pro"/>
              <a:ea typeface="Maven Pro"/>
              <a:cs typeface="Maven Pro"/>
              <a:sym typeface="Maven Pro"/>
            </a:endParaRPr>
          </a:p>
          <a:p>
            <a:pPr marL="0" lvl="0" indent="0" algn="l" rtl="0">
              <a:lnSpc>
                <a:spcPct val="150000"/>
              </a:lnSpc>
              <a:spcBef>
                <a:spcPts val="0"/>
              </a:spcBef>
              <a:spcAft>
                <a:spcPts val="0"/>
              </a:spcAft>
              <a:buNone/>
            </a:pPr>
            <a:r>
              <a:rPr lang="zh-TW" sz="2400" b="1">
                <a:latin typeface="Maven Pro"/>
                <a:ea typeface="Maven Pro"/>
                <a:cs typeface="Maven Pro"/>
                <a:sym typeface="Maven Pro"/>
              </a:rPr>
              <a:t>iii.Random Forest</a:t>
            </a:r>
            <a:endParaRPr sz="2400" b="1">
              <a:latin typeface="Maven Pro"/>
              <a:ea typeface="Maven Pro"/>
              <a:cs typeface="Maven Pro"/>
              <a:sym typeface="Maven Pro"/>
            </a:endParaRPr>
          </a:p>
          <a:p>
            <a:pPr marL="0" lvl="0" indent="0" algn="l" rtl="0">
              <a:lnSpc>
                <a:spcPct val="150000"/>
              </a:lnSpc>
              <a:spcBef>
                <a:spcPts val="0"/>
              </a:spcBef>
              <a:spcAft>
                <a:spcPts val="0"/>
              </a:spcAft>
              <a:buNone/>
            </a:pPr>
            <a:r>
              <a:rPr lang="zh-TW" sz="2400" b="1">
                <a:latin typeface="Maven Pro"/>
                <a:ea typeface="Maven Pro"/>
                <a:cs typeface="Maven Pro"/>
                <a:sym typeface="Maven Pro"/>
              </a:rPr>
              <a:t>iv.NN</a:t>
            </a:r>
            <a:endParaRPr sz="2400" b="1">
              <a:latin typeface="Maven Pro"/>
              <a:ea typeface="Maven Pro"/>
              <a:cs typeface="Maven Pro"/>
              <a:sym typeface="Maven Pro"/>
            </a:endParaRPr>
          </a:p>
          <a:p>
            <a:pPr marL="0" lvl="0" indent="0" algn="l" rtl="0">
              <a:lnSpc>
                <a:spcPct val="150000"/>
              </a:lnSpc>
              <a:spcBef>
                <a:spcPts val="0"/>
              </a:spcBef>
              <a:spcAft>
                <a:spcPts val="0"/>
              </a:spcAft>
              <a:buNone/>
            </a:pPr>
            <a:r>
              <a:rPr lang="zh-TW" sz="2400" b="1">
                <a:latin typeface="Maven Pro"/>
                <a:ea typeface="Maven Pro"/>
                <a:cs typeface="Maven Pro"/>
                <a:sym typeface="Maven Pro"/>
              </a:rPr>
              <a:t>v.Linear Regression</a:t>
            </a:r>
            <a:endParaRPr sz="2400" b="1">
              <a:latin typeface="Maven Pro"/>
              <a:ea typeface="Maven Pro"/>
              <a:cs typeface="Maven Pro"/>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3"/>
          <p:cNvSpPr txBox="1">
            <a:spLocks noGrp="1"/>
          </p:cNvSpPr>
          <p:nvPr>
            <p:ph type="ctrTitle"/>
          </p:nvPr>
        </p:nvSpPr>
        <p:spPr>
          <a:xfrm>
            <a:off x="435225" y="290771"/>
            <a:ext cx="4255500" cy="122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b="0">
                <a:latin typeface="Nunito Light"/>
                <a:ea typeface="Nunito Light"/>
                <a:cs typeface="Nunito Light"/>
                <a:sym typeface="Nunito Light"/>
              </a:rPr>
              <a:t>預測結果</a:t>
            </a:r>
            <a:endParaRPr b="0">
              <a:latin typeface="Nunito Light"/>
              <a:ea typeface="Nunito Light"/>
              <a:cs typeface="Nunito Light"/>
              <a:sym typeface="Nunito Light"/>
            </a:endParaRPr>
          </a:p>
        </p:txBody>
      </p:sp>
      <p:sp>
        <p:nvSpPr>
          <p:cNvPr id="344" name="Google Shape;344;p23"/>
          <p:cNvSpPr txBox="1"/>
          <p:nvPr/>
        </p:nvSpPr>
        <p:spPr>
          <a:xfrm>
            <a:off x="858925" y="1445100"/>
            <a:ext cx="4620900" cy="3000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TW" sz="2400" b="1" dirty="0">
                <a:solidFill>
                  <a:schemeClr val="lt1"/>
                </a:solidFill>
                <a:latin typeface="Maven Pro"/>
                <a:ea typeface="Maven Pro"/>
                <a:cs typeface="Maven Pro"/>
                <a:sym typeface="Maven Pro"/>
              </a:rPr>
              <a:t>Accuracy</a:t>
            </a:r>
            <a:endParaRPr sz="2400" b="1" dirty="0">
              <a:solidFill>
                <a:schemeClr val="lt1"/>
              </a:solidFill>
              <a:latin typeface="Maven Pro"/>
              <a:ea typeface="Maven Pro"/>
              <a:cs typeface="Maven Pro"/>
              <a:sym typeface="Maven Pro"/>
            </a:endParaRPr>
          </a:p>
          <a:p>
            <a:pPr lvl="0">
              <a:lnSpc>
                <a:spcPct val="150000"/>
              </a:lnSpc>
            </a:pPr>
            <a:r>
              <a:rPr lang="zh-TW" sz="2400" b="1" dirty="0">
                <a:solidFill>
                  <a:schemeClr val="lt1"/>
                </a:solidFill>
                <a:latin typeface="Maven Pro"/>
                <a:ea typeface="Maven Pro"/>
                <a:cs typeface="Maven Pro"/>
                <a:sym typeface="Maven Pro"/>
              </a:rPr>
              <a:t>Bayes </a:t>
            </a:r>
            <a:r>
              <a:rPr lang="en-US" altLang="zh-TW" sz="2400" b="1" dirty="0" err="1" smtClean="0">
                <a:solidFill>
                  <a:schemeClr val="lt1"/>
                </a:solidFill>
                <a:latin typeface="Maven Pro"/>
                <a:ea typeface="Maven Pro"/>
                <a:cs typeface="Maven Pro"/>
                <a:sym typeface="Maven Pro"/>
              </a:rPr>
              <a:t>gaussian</a:t>
            </a:r>
            <a:r>
              <a:rPr lang="en-US" altLang="zh-TW" sz="2400" b="1" dirty="0" smtClean="0">
                <a:solidFill>
                  <a:schemeClr val="lt1"/>
                </a:solidFill>
                <a:latin typeface="Maven Pro"/>
                <a:ea typeface="Maven Pro"/>
                <a:cs typeface="Maven Pro"/>
                <a:sym typeface="Maven Pro"/>
              </a:rPr>
              <a:t>:</a:t>
            </a:r>
            <a:r>
              <a:rPr lang="zh-TW" sz="2400" b="1" dirty="0" smtClean="0">
                <a:solidFill>
                  <a:schemeClr val="lt1"/>
                </a:solidFill>
                <a:latin typeface="Maven Pro"/>
                <a:ea typeface="Maven Pro"/>
                <a:cs typeface="Maven Pro"/>
                <a:sym typeface="Maven Pro"/>
              </a:rPr>
              <a:t>0</a:t>
            </a:r>
            <a:r>
              <a:rPr lang="zh-TW" sz="2400" b="1" dirty="0">
                <a:solidFill>
                  <a:schemeClr val="lt1"/>
                </a:solidFill>
                <a:latin typeface="Maven Pro"/>
                <a:ea typeface="Maven Pro"/>
                <a:cs typeface="Maven Pro"/>
                <a:sym typeface="Maven Pro"/>
              </a:rPr>
              <a:t>.44</a:t>
            </a:r>
            <a:endParaRPr sz="2400" b="1" dirty="0">
              <a:solidFill>
                <a:schemeClr val="lt1"/>
              </a:solidFill>
              <a:latin typeface="Maven Pro"/>
              <a:ea typeface="Maven Pro"/>
              <a:cs typeface="Maven Pro"/>
              <a:sym typeface="Maven Pro"/>
            </a:endParaRPr>
          </a:p>
          <a:p>
            <a:pPr marL="0" lvl="0" indent="0" algn="l" rtl="0">
              <a:lnSpc>
                <a:spcPct val="150000"/>
              </a:lnSpc>
              <a:spcBef>
                <a:spcPts val="0"/>
              </a:spcBef>
              <a:spcAft>
                <a:spcPts val="0"/>
              </a:spcAft>
              <a:buNone/>
            </a:pPr>
            <a:r>
              <a:rPr lang="zh-TW" sz="2400" b="1" dirty="0">
                <a:solidFill>
                  <a:schemeClr val="lt1"/>
                </a:solidFill>
                <a:latin typeface="Maven Pro"/>
                <a:ea typeface="Maven Pro"/>
                <a:cs typeface="Maven Pro"/>
                <a:sym typeface="Maven Pro"/>
              </a:rPr>
              <a:t>Desicion Tree : 0.63</a:t>
            </a:r>
            <a:endParaRPr sz="2400" b="1" dirty="0">
              <a:solidFill>
                <a:schemeClr val="lt1"/>
              </a:solidFill>
              <a:latin typeface="Maven Pro"/>
              <a:ea typeface="Maven Pro"/>
              <a:cs typeface="Maven Pro"/>
              <a:sym typeface="Maven Pro"/>
            </a:endParaRPr>
          </a:p>
          <a:p>
            <a:pPr marL="0" lvl="0" indent="0" algn="l" rtl="0">
              <a:lnSpc>
                <a:spcPct val="150000"/>
              </a:lnSpc>
              <a:spcBef>
                <a:spcPts val="0"/>
              </a:spcBef>
              <a:spcAft>
                <a:spcPts val="0"/>
              </a:spcAft>
              <a:buNone/>
            </a:pPr>
            <a:r>
              <a:rPr lang="zh-TW" sz="2400" b="1" dirty="0">
                <a:solidFill>
                  <a:schemeClr val="lt1"/>
                </a:solidFill>
                <a:latin typeface="Maven Pro"/>
                <a:ea typeface="Maven Pro"/>
                <a:cs typeface="Maven Pro"/>
                <a:sym typeface="Maven Pro"/>
              </a:rPr>
              <a:t>Random Forest : 0.55</a:t>
            </a:r>
            <a:endParaRPr sz="2400" b="1" dirty="0">
              <a:solidFill>
                <a:schemeClr val="lt1"/>
              </a:solidFill>
              <a:latin typeface="Maven Pro"/>
              <a:ea typeface="Maven Pro"/>
              <a:cs typeface="Maven Pro"/>
              <a:sym typeface="Maven Pro"/>
            </a:endParaRPr>
          </a:p>
          <a:p>
            <a:pPr marL="0" lvl="0" indent="0" algn="l" rtl="0">
              <a:lnSpc>
                <a:spcPct val="150000"/>
              </a:lnSpc>
              <a:spcBef>
                <a:spcPts val="0"/>
              </a:spcBef>
              <a:spcAft>
                <a:spcPts val="0"/>
              </a:spcAft>
              <a:buNone/>
            </a:pPr>
            <a:r>
              <a:rPr lang="zh-TW" sz="2400" b="1" dirty="0">
                <a:solidFill>
                  <a:schemeClr val="lt1"/>
                </a:solidFill>
                <a:latin typeface="Maven Pro"/>
                <a:ea typeface="Maven Pro"/>
                <a:cs typeface="Maven Pro"/>
                <a:sym typeface="Maven Pro"/>
              </a:rPr>
              <a:t>NN : 0.799</a:t>
            </a:r>
            <a:endParaRPr sz="2400" b="1" dirty="0">
              <a:solidFill>
                <a:schemeClr val="lt1"/>
              </a:solidFill>
              <a:latin typeface="Maven Pro"/>
              <a:ea typeface="Maven Pro"/>
              <a:cs typeface="Maven Pro"/>
              <a:sym typeface="Maven Pro"/>
            </a:endParaRPr>
          </a:p>
          <a:p>
            <a:pPr marL="0" lvl="0" indent="0" algn="l" rtl="0">
              <a:lnSpc>
                <a:spcPct val="150000"/>
              </a:lnSpc>
              <a:spcBef>
                <a:spcPts val="0"/>
              </a:spcBef>
              <a:spcAft>
                <a:spcPts val="0"/>
              </a:spcAft>
              <a:buNone/>
            </a:pPr>
            <a:r>
              <a:rPr lang="zh-TW" sz="2400" b="1" dirty="0">
                <a:solidFill>
                  <a:schemeClr val="lt1"/>
                </a:solidFill>
                <a:latin typeface="Maven Pro"/>
                <a:ea typeface="Maven Pro"/>
                <a:cs typeface="Maven Pro"/>
                <a:sym typeface="Maven Pro"/>
              </a:rPr>
              <a:t>Linear Regression :0.43</a:t>
            </a:r>
            <a:endParaRPr sz="2400" b="1" dirty="0">
              <a:solidFill>
                <a:schemeClr val="lt1"/>
              </a:solidFill>
              <a:latin typeface="Maven Pro"/>
              <a:ea typeface="Maven Pro"/>
              <a:cs typeface="Maven Pro"/>
              <a:sym typeface="Maven Pr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4"/>
          <p:cNvSpPr txBox="1">
            <a:spLocks noGrp="1"/>
          </p:cNvSpPr>
          <p:nvPr>
            <p:ph type="ctrTitle"/>
          </p:nvPr>
        </p:nvSpPr>
        <p:spPr>
          <a:xfrm>
            <a:off x="162325" y="181375"/>
            <a:ext cx="3788700" cy="1511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五、遇到難題</a:t>
            </a:r>
            <a:endParaRPr b="0">
              <a:latin typeface="Nunito Light"/>
              <a:ea typeface="Nunito Light"/>
              <a:cs typeface="Nunito Light"/>
              <a:sym typeface="Nunito Light"/>
            </a:endParaRPr>
          </a:p>
        </p:txBody>
      </p:sp>
      <p:sp>
        <p:nvSpPr>
          <p:cNvPr id="350" name="Google Shape;350;p24"/>
          <p:cNvSpPr txBox="1">
            <a:spLocks noGrp="1"/>
          </p:cNvSpPr>
          <p:nvPr>
            <p:ph type="subTitle" idx="1"/>
          </p:nvPr>
        </p:nvSpPr>
        <p:spPr>
          <a:xfrm>
            <a:off x="802550" y="1693075"/>
            <a:ext cx="6805500" cy="30324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AutoNum type="arabicPeriod"/>
            </a:pPr>
            <a:r>
              <a:rPr lang="zh-TW" dirty="0" smtClean="0"/>
              <a:t>抓取</a:t>
            </a:r>
            <a:r>
              <a:rPr lang="zh-TW" dirty="0"/>
              <a:t>完整的資料遇到的各種狀況						</a:t>
            </a:r>
            <a:endParaRPr lang="en-US" altLang="zh-TW" dirty="0"/>
          </a:p>
          <a:p>
            <a:pPr marL="0" lvl="0" indent="0" algn="l" rtl="0">
              <a:spcBef>
                <a:spcPts val="0"/>
              </a:spcBef>
              <a:spcAft>
                <a:spcPts val="0"/>
              </a:spcAft>
            </a:pPr>
            <a:r>
              <a:rPr lang="zh-TW" dirty="0" smtClean="0"/>
              <a:t>solved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zh-TW" dirty="0"/>
              <a:t>2. 透過 jieba 所得到字詞分類會讓整個 array 變得太大</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zh-TW" dirty="0" smtClean="0"/>
              <a:t>solved</a:t>
            </a:r>
            <a:r>
              <a:rPr lang="zh-TW" dirty="0"/>
              <a:t>…...but too late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zh-TW" dirty="0"/>
              <a:t>3. 希望能處理各國字詞與圖片</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zh-TW" dirty="0" smtClean="0"/>
              <a:t>cannot </a:t>
            </a:r>
            <a:r>
              <a:rPr lang="zh-TW" dirty="0"/>
              <a:t>be done before deadline</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25"/>
          <p:cNvPicPr preferRelativeResize="0"/>
          <p:nvPr/>
        </p:nvPicPr>
        <p:blipFill>
          <a:blip r:embed="rId3">
            <a:alphaModFix/>
          </a:blip>
          <a:stretch>
            <a:fillRect/>
          </a:stretch>
        </p:blipFill>
        <p:spPr>
          <a:xfrm>
            <a:off x="1551424" y="1872899"/>
            <a:ext cx="6255611" cy="918791"/>
          </a:xfrm>
          <a:prstGeom prst="rect">
            <a:avLst/>
          </a:prstGeom>
          <a:noFill/>
          <a:ln>
            <a:noFill/>
          </a:ln>
        </p:spPr>
      </p:pic>
      <p:sp>
        <p:nvSpPr>
          <p:cNvPr id="356" name="Google Shape;356;p25"/>
          <p:cNvSpPr txBox="1">
            <a:spLocks noGrp="1"/>
          </p:cNvSpPr>
          <p:nvPr>
            <p:ph type="ctrTitle"/>
          </p:nvPr>
        </p:nvSpPr>
        <p:spPr>
          <a:xfrm>
            <a:off x="0" y="-12"/>
            <a:ext cx="4255500" cy="187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zh-TW" b="0">
                <a:latin typeface="Nunito Light"/>
                <a:ea typeface="Nunito Light"/>
                <a:cs typeface="Nunito Light"/>
                <a:sym typeface="Nunito Light"/>
              </a:rPr>
              <a:t>解決方法</a:t>
            </a:r>
            <a:endParaRPr b="0">
              <a:latin typeface="Nunito Light"/>
              <a:ea typeface="Nunito Light"/>
              <a:cs typeface="Nunito Light"/>
              <a:sym typeface="Nunito Light"/>
            </a:endParaRPr>
          </a:p>
        </p:txBody>
      </p:sp>
      <p:pic>
        <p:nvPicPr>
          <p:cNvPr id="357" name="Google Shape;357;p25"/>
          <p:cNvPicPr preferRelativeResize="0"/>
          <p:nvPr/>
        </p:nvPicPr>
        <p:blipFill>
          <a:blip r:embed="rId4">
            <a:alphaModFix/>
          </a:blip>
          <a:stretch>
            <a:fillRect/>
          </a:stretch>
        </p:blipFill>
        <p:spPr>
          <a:xfrm>
            <a:off x="1551424" y="3213524"/>
            <a:ext cx="4309049" cy="132383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26"/>
          <p:cNvPicPr preferRelativeResize="0"/>
          <p:nvPr/>
        </p:nvPicPr>
        <p:blipFill rotWithShape="1">
          <a:blip r:embed="rId3">
            <a:alphaModFix/>
          </a:blip>
          <a:srcRect l="8356" t="51064" r="46521"/>
          <a:stretch/>
        </p:blipFill>
        <p:spPr>
          <a:xfrm>
            <a:off x="4646425" y="4202100"/>
            <a:ext cx="4182875" cy="592600"/>
          </a:xfrm>
          <a:prstGeom prst="rect">
            <a:avLst/>
          </a:prstGeom>
          <a:noFill/>
          <a:ln>
            <a:noFill/>
          </a:ln>
        </p:spPr>
      </p:pic>
      <p:pic>
        <p:nvPicPr>
          <p:cNvPr id="363" name="Google Shape;363;p26"/>
          <p:cNvPicPr preferRelativeResize="0"/>
          <p:nvPr/>
        </p:nvPicPr>
        <p:blipFill>
          <a:blip r:embed="rId4">
            <a:alphaModFix/>
          </a:blip>
          <a:stretch>
            <a:fillRect/>
          </a:stretch>
        </p:blipFill>
        <p:spPr>
          <a:xfrm>
            <a:off x="4646425" y="1512075"/>
            <a:ext cx="4182875" cy="2506475"/>
          </a:xfrm>
          <a:prstGeom prst="rect">
            <a:avLst/>
          </a:prstGeom>
          <a:noFill/>
          <a:ln>
            <a:noFill/>
          </a:ln>
        </p:spPr>
      </p:pic>
      <p:pic>
        <p:nvPicPr>
          <p:cNvPr id="364" name="Google Shape;364;p26"/>
          <p:cNvPicPr preferRelativeResize="0"/>
          <p:nvPr/>
        </p:nvPicPr>
        <p:blipFill rotWithShape="1">
          <a:blip r:embed="rId5">
            <a:alphaModFix/>
          </a:blip>
          <a:srcRect t="49677" r="19093"/>
          <a:stretch/>
        </p:blipFill>
        <p:spPr>
          <a:xfrm>
            <a:off x="211225" y="4202100"/>
            <a:ext cx="4182874" cy="592600"/>
          </a:xfrm>
          <a:prstGeom prst="rect">
            <a:avLst/>
          </a:prstGeom>
          <a:noFill/>
          <a:ln>
            <a:noFill/>
          </a:ln>
        </p:spPr>
      </p:pic>
      <p:pic>
        <p:nvPicPr>
          <p:cNvPr id="365" name="Google Shape;365;p26"/>
          <p:cNvPicPr preferRelativeResize="0"/>
          <p:nvPr/>
        </p:nvPicPr>
        <p:blipFill>
          <a:blip r:embed="rId6">
            <a:alphaModFix/>
          </a:blip>
          <a:stretch>
            <a:fillRect/>
          </a:stretch>
        </p:blipFill>
        <p:spPr>
          <a:xfrm>
            <a:off x="211225" y="1512075"/>
            <a:ext cx="4182876" cy="2506475"/>
          </a:xfrm>
          <a:prstGeom prst="rect">
            <a:avLst/>
          </a:prstGeom>
          <a:noFill/>
          <a:ln>
            <a:noFill/>
          </a:ln>
        </p:spPr>
      </p:pic>
      <p:sp>
        <p:nvSpPr>
          <p:cNvPr id="366" name="Google Shape;366;p26"/>
          <p:cNvSpPr txBox="1"/>
          <p:nvPr/>
        </p:nvSpPr>
        <p:spPr>
          <a:xfrm>
            <a:off x="1650300" y="361300"/>
            <a:ext cx="5843400" cy="68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3600">
                <a:solidFill>
                  <a:srgbClr val="FFFFFF"/>
                </a:solidFill>
                <a:latin typeface="Nunito"/>
                <a:ea typeface="Nunito"/>
                <a:cs typeface="Nunito"/>
                <a:sym typeface="Nunito"/>
              </a:rPr>
              <a:t>nn overfitting</a:t>
            </a:r>
            <a:endParaRPr sz="3600">
              <a:solidFill>
                <a:srgbClr val="FFFFFF"/>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7"/>
          <p:cNvSpPr txBox="1">
            <a:spLocks noGrp="1"/>
          </p:cNvSpPr>
          <p:nvPr>
            <p:ph type="ctrTitle"/>
          </p:nvPr>
        </p:nvSpPr>
        <p:spPr>
          <a:xfrm>
            <a:off x="1483750" y="1635300"/>
            <a:ext cx="4642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zh-TW" sz="4800"/>
              <a:t>謝謝大家</a:t>
            </a:r>
            <a:endParaRPr sz="480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564</Words>
  <Application>Microsoft Office PowerPoint</Application>
  <PresentationFormat>如螢幕大小 (16:9)</PresentationFormat>
  <Paragraphs>62</Paragraphs>
  <Slides>15</Slides>
  <Notes>15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Nunito ExtraLight</vt:lpstr>
      <vt:lpstr>Arial</vt:lpstr>
      <vt:lpstr>Maven Pro</vt:lpstr>
      <vt:lpstr>Nunito</vt:lpstr>
      <vt:lpstr>Nunito Light</vt:lpstr>
      <vt:lpstr>Momentum</vt:lpstr>
      <vt:lpstr>2018  下學期機器學習 Final Project</vt:lpstr>
      <vt:lpstr>一、題目與動機</vt:lpstr>
      <vt:lpstr>二、取得資料</vt:lpstr>
      <vt:lpstr>ppt首頁</vt:lpstr>
      <vt:lpstr>ptt 分類 index</vt:lpstr>
      <vt:lpstr>文章內頁</vt:lpstr>
      <vt:lpstr>輸出格式</vt:lpstr>
      <vt:lpstr>三、資料前處理</vt:lpstr>
      <vt:lpstr>資料視覺化</vt:lpstr>
      <vt:lpstr>       四、訓練模型         </vt:lpstr>
      <vt:lpstr>預測結果</vt:lpstr>
      <vt:lpstr>五、遇到難題</vt:lpstr>
      <vt:lpstr>解決方法</vt:lpstr>
      <vt:lpstr>PowerPoint 簡報</vt:lpstr>
      <vt:lpstr>謝謝大家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2018  下學期機器學習 Final Project</dc:title>
  <cp:lastModifiedBy>哲與 林</cp:lastModifiedBy>
  <cp:revision>4</cp:revision>
  <dcterms:modified xsi:type="dcterms:W3CDTF">2019-06-05T07:27:57Z</dcterms:modified>
</cp:coreProperties>
</file>